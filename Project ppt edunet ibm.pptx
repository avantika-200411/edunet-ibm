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sldIdLst>
    <p:sldId id="256" r:id="rId5"/>
    <p:sldId id="2146847054" r:id="rId6"/>
    <p:sldId id="262" r:id="rId7"/>
    <p:sldId id="263" r:id="rId8"/>
    <p:sldId id="265" r:id="rId9"/>
    <p:sldId id="2146847056" r:id="rId10"/>
    <p:sldId id="266" r:id="rId11"/>
    <p:sldId id="267" r:id="rId12"/>
    <p:sldId id="2146847057" r:id="rId13"/>
    <p:sldId id="2146847058" r:id="rId14"/>
    <p:sldId id="2146847060" r:id="rId15"/>
    <p:sldId id="2146847059" r:id="rId16"/>
    <p:sldId id="268" r:id="rId17"/>
    <p:sldId id="2146847055" r:id="rId18"/>
    <p:sldId id="269" r:id="rId19"/>
    <p:sldId id="2146847061" r:id="rId20"/>
    <p:sldId id="2146847062" r:id="rId21"/>
    <p:sldId id="2146847063" r:id="rId22"/>
    <p:sldId id="259"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C2D01F-53DD-53CB-15F3-A71BB05CAA43}" v="11" dt="2025-08-25T05:49:29.5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75" d="100"/>
          <a:sy n="75" d="100"/>
        </p:scale>
        <p:origin x="946"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07-02-2026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2/7/2026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2/7/2026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2/7/2026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2/7/2026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2/7/2026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2/7/2026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2/7/2026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2/7/2026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2/7/2026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2/7/2026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fontScale="90000"/>
          </a:bodyPr>
          <a:lstStyle/>
          <a:p>
            <a:pPr algn="ctr"/>
            <a:r>
              <a:rPr lang="en-US" b="1" dirty="0">
                <a:solidFill>
                  <a:schemeClr val="accent2">
                    <a:lumMod val="75000"/>
                  </a:schemeClr>
                </a:solidFill>
                <a:latin typeface="Arial"/>
                <a:cs typeface="Arial"/>
              </a:rPr>
              <a:t>Improved sources of drinking Water</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dirty="0">
                <a:solidFill>
                  <a:schemeClr val="accent1">
                    <a:lumMod val="75000"/>
                  </a:schemeClr>
                </a:solidFill>
                <a:latin typeface="Arial"/>
                <a:cs typeface="Arial"/>
              </a:rPr>
              <a:t>CAPSTONE PROJECT</a:t>
            </a:r>
          </a:p>
        </p:txBody>
      </p:sp>
      <p:sp>
        <p:nvSpPr>
          <p:cNvPr id="4" name="TextBox 3"/>
          <p:cNvSpPr txBox="1"/>
          <p:nvPr/>
        </p:nvSpPr>
        <p:spPr>
          <a:xfrm>
            <a:off x="3117529" y="4586365"/>
            <a:ext cx="7980183" cy="1323439"/>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r>
              <a:rPr lang="en-US" sz="2000" b="1" dirty="0">
                <a:solidFill>
                  <a:schemeClr val="accent1">
                    <a:lumMod val="75000"/>
                  </a:schemeClr>
                </a:solidFill>
                <a:latin typeface="Arial"/>
                <a:cs typeface="Arial"/>
              </a:rPr>
              <a:t>Avantika Kashyap</a:t>
            </a:r>
          </a:p>
          <a:p>
            <a:r>
              <a:rPr lang="en-US" sz="2000" b="1" dirty="0">
                <a:solidFill>
                  <a:schemeClr val="accent1">
                    <a:lumMod val="75000"/>
                  </a:schemeClr>
                </a:solidFill>
                <a:latin typeface="Arial"/>
                <a:cs typeface="Arial"/>
              </a:rPr>
              <a:t>Haridwar University</a:t>
            </a:r>
          </a:p>
          <a:p>
            <a:r>
              <a:rPr lang="en-US" sz="2000" b="1" dirty="0">
                <a:solidFill>
                  <a:schemeClr val="accent1">
                    <a:lumMod val="75000"/>
                  </a:schemeClr>
                </a:solidFill>
                <a:latin typeface="Arial"/>
                <a:cs typeface="Arial"/>
              </a:rPr>
              <a:t>B-tech </a:t>
            </a:r>
            <a:r>
              <a:rPr lang="en-US" sz="2000" b="1" dirty="0" err="1">
                <a:solidFill>
                  <a:schemeClr val="accent1">
                    <a:lumMod val="75000"/>
                  </a:schemeClr>
                </a:solidFill>
                <a:latin typeface="Arial"/>
                <a:cs typeface="Arial"/>
              </a:rPr>
              <a:t>cse</a:t>
            </a:r>
            <a:r>
              <a:rPr lang="en-US" sz="2000" b="1" dirty="0">
                <a:solidFill>
                  <a:schemeClr val="accent1">
                    <a:lumMod val="75000"/>
                  </a:schemeClr>
                </a:solidFill>
                <a:latin typeface="Arial"/>
                <a:cs typeface="Arial"/>
              </a:rPr>
              <a:t> (AI&amp;ML)</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dirty="0">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0" indent="0">
              <a:buNone/>
            </a:pPr>
            <a:r>
              <a:rPr lang="en-US" sz="2400" b="1" dirty="0"/>
              <a:t>The Challenge: </a:t>
            </a:r>
            <a:r>
              <a:rPr lang="en-US" sz="2200" dirty="0"/>
              <a:t>Access to safe and improved sources of drinking water remains a critical issue in India, especially in rural and underdeveloped regions. Despite ongoing efforts under the Sustainable Development Goals (SDGs), inequalities persist in water accessibility across states and socio-economic groups. This project aims to analyze data from the 78th Round of the Multiple Indicator Survey (MIS) to assess the percentage of the population with access to improved drinking water sources. It will also explore related indicators such as use of clean cooking fuel and migration trends. By identifying patterns and disparities, the study will generate actionable insights to support evidence-based policymaking. The ultimate goal is to help ensure equitable access to clean water and contribute to India's progress on SDG targets.</a:t>
            </a:r>
            <a:endParaRPr lang="en-IN" sz="26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panose="020B0604020202020204" pitchFamily="34" charset="0"/>
                <a:cs typeface="Arial" panose="020B0604020202020204" pitchFamily="34" charset="0"/>
              </a:rPr>
              <a:t>Proposed Solution</a:t>
            </a:r>
            <a:endParaRPr lang="en-US" sz="4400" dirty="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171269" y="1232452"/>
            <a:ext cx="11613485" cy="5563973"/>
          </a:xfrm>
        </p:spPr>
        <p:txBody>
          <a:bodyPr vert="horz" lIns="91440" tIns="45720" rIns="91440" bIns="45720" rtlCol="0" anchor="ctr">
            <a:noAutofit/>
          </a:bodyPr>
          <a:lstStyle/>
          <a:p>
            <a:pPr marL="305435" indent="-305435"/>
            <a:endParaRPr lang="en-IN" sz="1200" b="1" dirty="0">
              <a:latin typeface="Calibri"/>
              <a:cs typeface="Calibri"/>
            </a:endParaRPr>
          </a:p>
          <a:p>
            <a:pPr marL="0" indent="0">
              <a:buNone/>
            </a:pPr>
            <a:r>
              <a:rPr lang="en-US" sz="1200" dirty="0"/>
              <a:t>The proposed system aims to address the challenge of assessing and predicting access to improved sources of drinking water across different regions and population groups in India. The solution will help generate actionable insights to support evidence-based policymaking and monitor progress toward Sustainable Development Goal (SDG) targets.</a:t>
            </a:r>
          </a:p>
          <a:p>
            <a:r>
              <a:rPr lang="en-US" sz="1200" dirty="0"/>
              <a:t>The solution will consist of the following components:</a:t>
            </a:r>
          </a:p>
          <a:p>
            <a:r>
              <a:rPr lang="en-US" sz="1200" b="1" dirty="0"/>
              <a:t>Data Collection:</a:t>
            </a:r>
          </a:p>
          <a:p>
            <a:r>
              <a:rPr lang="en-US" sz="1200" dirty="0"/>
              <a:t>Collect data from the 78th Round of the Multiple Indicator Survey (MIS), focusing on indicators related to improved drinking water sources, clean cooking fuel usage, and migration patterns.</a:t>
            </a:r>
          </a:p>
          <a:p>
            <a:r>
              <a:rPr lang="en-US" sz="1200" b="1" dirty="0"/>
              <a:t>Data Preprocessing:</a:t>
            </a:r>
          </a:p>
          <a:p>
            <a:r>
              <a:rPr lang="en-US" sz="1200" dirty="0"/>
              <a:t>Clean and preprocess the collected data by handling missing values, inconsistencies, and outliers.</a:t>
            </a:r>
          </a:p>
          <a:p>
            <a:r>
              <a:rPr lang="en-US" sz="1200" dirty="0"/>
              <a:t>Normalize and encode categorical variables such as state, gender, and indicator for effective model training.</a:t>
            </a:r>
          </a:p>
          <a:p>
            <a:r>
              <a:rPr lang="en-US" sz="1200" b="1" dirty="0"/>
              <a:t>Machine Learning Algorithm:</a:t>
            </a:r>
          </a:p>
          <a:p>
            <a:r>
              <a:rPr lang="en-US" sz="1200" dirty="0"/>
              <a:t>Implement a supervised machine learning regression model to predict the </a:t>
            </a:r>
            <a:r>
              <a:rPr lang="en-US" sz="1200" b="1" dirty="0"/>
              <a:t>Value</a:t>
            </a:r>
            <a:r>
              <a:rPr lang="en-US" sz="1200" dirty="0"/>
              <a:t> (percentage of population with access to improved drinking water).</a:t>
            </a:r>
          </a:p>
          <a:p>
            <a:r>
              <a:rPr lang="en-US" sz="1200" dirty="0"/>
              <a:t>Algorithms such as Linear Regression, Random Forest Regression, or Gradient Boosting can be used to capture both linear and non-linear relationships in the data.</a:t>
            </a:r>
          </a:p>
          <a:p>
            <a:r>
              <a:rPr lang="en-US" sz="1200" b="1" dirty="0"/>
              <a:t>Deployment:</a:t>
            </a:r>
          </a:p>
          <a:p>
            <a:r>
              <a:rPr lang="en-US" sz="1200" dirty="0"/>
              <a:t>Develop a dashboard or web-based interface that visualizes predicted water access levels across states and demographic groups.</a:t>
            </a:r>
          </a:p>
          <a:p>
            <a:r>
              <a:rPr lang="en-US" sz="1200" dirty="0"/>
              <a:t>Deploy the system on a scalable platform to allow policymakers, researchers, and stakeholders to access real-time insights and comparative analyses.</a:t>
            </a:r>
          </a:p>
          <a:p>
            <a:r>
              <a:rPr lang="en-US" sz="1200" b="1" dirty="0"/>
              <a:t>Evaluation:</a:t>
            </a:r>
          </a:p>
          <a:p>
            <a:r>
              <a:rPr lang="en-US" sz="1200" dirty="0"/>
              <a:t>Evaluate the model’s performance using metrics such as Mean Absolute Error (MAE), Root Mean Squared Error (RMSE), and R-squared.</a:t>
            </a:r>
          </a:p>
          <a:p>
            <a:r>
              <a:rPr lang="en-US" sz="1200" dirty="0"/>
              <a:t>Continuously refine the model through feedback, updated survey data, and monitoring of prediction accuracy to ensure reliable and relevant outputs.</a:t>
            </a:r>
            <a:endParaRPr lang="en-IN" sz="1200" dirty="0"/>
          </a:p>
          <a:p>
            <a:pPr marL="0" indent="0">
              <a:buNone/>
            </a:pPr>
            <a:endParaRPr lang="en-IN" dirty="0"/>
          </a:p>
        </p:txBody>
      </p:sp>
    </p:spTree>
    <p:extLst>
      <p:ext uri="{BB962C8B-B14F-4D97-AF65-F5344CB8AC3E}">
        <p14:creationId xmlns:p14="http://schemas.microsoft.com/office/powerpoint/2010/main" val="3210358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normAutofit/>
          </a:bodyPr>
          <a:lstStyle/>
          <a:p>
            <a:pPr marL="0" indent="0">
              <a:buNone/>
            </a:pPr>
            <a:r>
              <a:rPr lang="en-US" sz="2400" dirty="0"/>
              <a:t>The system approach defines the methodology used to analyze and predict access to improved drinking water sources using survey data and machine learning techniques</a:t>
            </a:r>
          </a:p>
          <a:p>
            <a:pPr marL="0" indent="0">
              <a:buNone/>
            </a:pPr>
            <a:r>
              <a:rPr lang="en-US" sz="2400" dirty="0"/>
              <a:t>. The system follows a structured pipeline consisting of data acquisition, preprocessing, model development, evaluation, and result visualization to support evidence-based decision-making.</a:t>
            </a:r>
            <a:endParaRPr lang="en-IN" sz="2400" dirty="0">
              <a:solidFill>
                <a:srgbClr val="0F0F0F"/>
              </a:solidFill>
            </a:endParaRPr>
          </a:p>
        </p:txBody>
      </p:sp>
    </p:spTree>
    <p:extLst>
      <p:ext uri="{BB962C8B-B14F-4D97-AF65-F5344CB8AC3E}">
        <p14:creationId xmlns:p14="http://schemas.microsoft.com/office/powerpoint/2010/main" val="3202024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F4A28-AEA1-E169-CED8-D45ACC87D5D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65DAAB2-58CE-B2A7-F106-479E59B420E8}"/>
              </a:ext>
            </a:extLst>
          </p:cNvPr>
          <p:cNvSpPr>
            <a:spLocks noGrp="1"/>
          </p:cNvSpPr>
          <p:nvPr>
            <p:ph type="title"/>
          </p:nvPr>
        </p:nvSpPr>
        <p:spPr>
          <a:xfrm>
            <a:off x="581192" y="662572"/>
            <a:ext cx="11029616" cy="530296"/>
          </a:xfrm>
        </p:spPr>
        <p:txBody>
          <a:bodyPr>
            <a:normAutofit fontScale="90000"/>
          </a:bodyPr>
          <a:lstStyle/>
          <a:p>
            <a:r>
              <a:rPr lang="en-US" sz="4400" b="1" dirty="0">
                <a:solidFill>
                  <a:schemeClr val="accent1"/>
                </a:solidFill>
                <a:latin typeface="Arial"/>
                <a:ea typeface="+mj-lt"/>
                <a:cs typeface="Arial"/>
              </a:rPr>
              <a:t>Technologies used</a:t>
            </a:r>
            <a:endParaRPr lang="en-US" sz="4400" dirty="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3A5C6A1F-0790-3BAE-9BB2-96BB231229CD}"/>
              </a:ext>
            </a:extLst>
          </p:cNvPr>
          <p:cNvSpPr>
            <a:spLocks noGrp="1"/>
          </p:cNvSpPr>
          <p:nvPr>
            <p:ph idx="1"/>
          </p:nvPr>
        </p:nvSpPr>
        <p:spPr/>
        <p:txBody>
          <a:bodyPr>
            <a:normAutofit/>
          </a:bodyPr>
          <a:lstStyle/>
          <a:p>
            <a:pPr marL="0" indent="0">
              <a:buNone/>
            </a:pPr>
            <a:r>
              <a:rPr lang="en-IN" sz="3200" b="1" dirty="0"/>
              <a:t> IBM cloud lite services</a:t>
            </a:r>
          </a:p>
          <a:p>
            <a:pPr marL="0" indent="0">
              <a:buNone/>
            </a:pPr>
            <a:r>
              <a:rPr lang="en-IN" sz="3200" b="1" dirty="0"/>
              <a:t> Natural Language Processing (NLP)</a:t>
            </a:r>
          </a:p>
          <a:p>
            <a:pPr marL="0" indent="0">
              <a:buNone/>
            </a:pPr>
            <a:r>
              <a:rPr lang="en-IN" sz="3200" b="1" dirty="0"/>
              <a:t> Retrieval Augmented Generation (RAG)</a:t>
            </a:r>
          </a:p>
          <a:p>
            <a:pPr marL="0" indent="0">
              <a:buNone/>
            </a:pPr>
            <a:r>
              <a:rPr lang="en-IN" sz="3200" b="1" dirty="0"/>
              <a:t> IBM Granite model </a:t>
            </a:r>
            <a:endParaRPr lang="en-IN" sz="3200" b="1" dirty="0">
              <a:solidFill>
                <a:srgbClr val="0F0F0F"/>
              </a:solidFill>
            </a:endParaRPr>
          </a:p>
        </p:txBody>
      </p:sp>
    </p:spTree>
    <p:extLst>
      <p:ext uri="{BB962C8B-B14F-4D97-AF65-F5344CB8AC3E}">
        <p14:creationId xmlns:p14="http://schemas.microsoft.com/office/powerpoint/2010/main" val="636944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Algorithm &amp; Deployment</a:t>
            </a:r>
            <a:endParaRPr lang="en-US" dirty="0"/>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335280" y="1232452"/>
            <a:ext cx="11275527" cy="5452828"/>
          </a:xfrm>
        </p:spPr>
        <p:txBody>
          <a:bodyPr>
            <a:normAutofit fontScale="85000" lnSpcReduction="20000"/>
          </a:bodyPr>
          <a:lstStyle/>
          <a:p>
            <a:pPr marL="0" indent="0">
              <a:buNone/>
            </a:pPr>
            <a:r>
              <a:rPr lang="en-US" sz="1400" b="1" dirty="0"/>
              <a:t> </a:t>
            </a:r>
            <a:r>
              <a:rPr lang="en-US" sz="1600" b="1" dirty="0"/>
              <a:t>Algorithm Selection:</a:t>
            </a:r>
            <a:br>
              <a:rPr lang="en-US" sz="1400" dirty="0"/>
            </a:br>
            <a:r>
              <a:rPr lang="en-US" sz="1400" dirty="0"/>
              <a:t>Random Forest and Logistic Regression are used to analyze and predict access to improved drinking water. They are suitable for survey data and help identify important socio-economic and regional factors.</a:t>
            </a:r>
          </a:p>
          <a:p>
            <a:r>
              <a:rPr lang="en-US" sz="1400" b="1" dirty="0"/>
              <a:t>Data Input:</a:t>
            </a:r>
            <a:endParaRPr lang="en-US" sz="1400" dirty="0"/>
          </a:p>
          <a:p>
            <a:r>
              <a:rPr lang="en-US" sz="1400" dirty="0"/>
              <a:t>Household location (rural/urban, state)</a:t>
            </a:r>
          </a:p>
          <a:p>
            <a:r>
              <a:rPr lang="en-US" sz="1400" dirty="0"/>
              <a:t>Socio-economic details (income, education, household size)</a:t>
            </a:r>
          </a:p>
          <a:p>
            <a:r>
              <a:rPr lang="en-US" sz="1400" dirty="0"/>
              <a:t>Access to drinking water</a:t>
            </a:r>
          </a:p>
          <a:p>
            <a:r>
              <a:rPr lang="en-US" sz="1400" dirty="0"/>
              <a:t>Migration status</a:t>
            </a:r>
          </a:p>
          <a:p>
            <a:pPr marL="0" indent="0">
              <a:buNone/>
            </a:pPr>
            <a:r>
              <a:rPr lang="en-US" sz="1600" b="1" dirty="0"/>
              <a:t> Training Process</a:t>
            </a:r>
            <a:r>
              <a:rPr lang="en-US" sz="1400" b="1" dirty="0"/>
              <a:t>:</a:t>
            </a:r>
            <a:br>
              <a:rPr lang="en-US" sz="1400" dirty="0"/>
            </a:br>
            <a:r>
              <a:rPr lang="en-US" sz="1400" dirty="0"/>
              <a:t>Data is preprocessed by handling missing values and encoding variables. The dataset is split into training and testing sets. Cross-validation and hyperparameter tuning are used to improve accuracy.</a:t>
            </a:r>
          </a:p>
          <a:p>
            <a:r>
              <a:rPr lang="en-US" sz="1400" b="1" dirty="0"/>
              <a:t>Prediction Process:</a:t>
            </a:r>
            <a:br>
              <a:rPr lang="en-US" sz="1400" dirty="0"/>
            </a:br>
            <a:r>
              <a:rPr lang="en-US" sz="1400" dirty="0"/>
              <a:t>The trained model predicts the probability of households having access to improved drinking water and identifies vulnerable regions for policy planning.</a:t>
            </a:r>
          </a:p>
          <a:p>
            <a:pPr marL="0" indent="0">
              <a:buNone/>
            </a:pPr>
            <a:r>
              <a:rPr lang="en-US" sz="1600" b="1" dirty="0"/>
              <a:t>Deployment</a:t>
            </a:r>
          </a:p>
          <a:p>
            <a:r>
              <a:rPr lang="en-US" sz="1400" b="1" dirty="0"/>
              <a:t>Deployment Platform:</a:t>
            </a:r>
            <a:br>
              <a:rPr lang="en-US" sz="1400" dirty="0"/>
            </a:br>
            <a:r>
              <a:rPr lang="en-US" sz="1400" dirty="0"/>
              <a:t>The model can be deployed using dashboards or web applications (Python, Power BI, Tableau).</a:t>
            </a:r>
          </a:p>
          <a:p>
            <a:r>
              <a:rPr lang="en-US" sz="1400" b="1" dirty="0"/>
              <a:t>User Interaction:</a:t>
            </a:r>
            <a:br>
              <a:rPr lang="en-US" sz="1400" dirty="0"/>
            </a:br>
            <a:r>
              <a:rPr lang="en-US" sz="1400" dirty="0"/>
              <a:t>Users can input regional data to get predictions, risk classification, and visual reports.</a:t>
            </a:r>
          </a:p>
          <a:p>
            <a:r>
              <a:rPr lang="en-US" sz="1400" b="1" dirty="0"/>
              <a:t>Real-Time Updates:</a:t>
            </a:r>
            <a:br>
              <a:rPr lang="en-US" sz="1400" dirty="0"/>
            </a:br>
            <a:r>
              <a:rPr lang="en-US" sz="1400" dirty="0"/>
              <a:t>The system can be updated with new survey data for continuous monitoring.</a:t>
            </a:r>
          </a:p>
          <a:p>
            <a:r>
              <a:rPr lang="en-US" sz="1400" b="1" dirty="0"/>
              <a:t>Benefits:</a:t>
            </a:r>
            <a:br>
              <a:rPr lang="en-US" sz="1400" dirty="0"/>
            </a:br>
            <a:r>
              <a:rPr lang="en-US" sz="1400" dirty="0"/>
              <a:t>Supports policymakers, improves resource planning, and helps track SDG progress.</a:t>
            </a:r>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Result</a:t>
            </a:r>
            <a:endParaRPr lang="en-US"/>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lnSpcReduction="10000"/>
          </a:bodyPr>
          <a:lstStyle/>
          <a:p>
            <a:r>
              <a:rPr lang="en-US" sz="2400" dirty="0"/>
              <a:t>The analysis identified variations in access to improved drinking water across different states and socio-economic groups.</a:t>
            </a:r>
          </a:p>
          <a:p>
            <a:r>
              <a:rPr lang="en-US" sz="2400" dirty="0"/>
              <a:t>Rural and economically weaker regions showed comparatively lower access to safe drinking water sources.</a:t>
            </a:r>
          </a:p>
          <a:p>
            <a:r>
              <a:rPr lang="en-US" sz="2400" dirty="0"/>
              <a:t>A strong relationship was observed between access to clean cooking fuel and improved drinking water availability.</a:t>
            </a:r>
          </a:p>
          <a:p>
            <a:r>
              <a:rPr lang="en-US" sz="2400" dirty="0"/>
              <a:t>Migration trends indicated that lack of basic facilities like safe water may influence population movement.</a:t>
            </a:r>
          </a:p>
          <a:p>
            <a:r>
              <a:rPr lang="en-US" sz="2400" dirty="0"/>
              <a:t>The model successfully helped in identifying vulnerable regions, supporting better policy planning and resource allocation.</a:t>
            </a:r>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7BC8-58DB-9DA3-B782-06E167AF3C5C}"/>
              </a:ext>
            </a:extLst>
          </p:cNvPr>
          <p:cNvSpPr>
            <a:spLocks noGrp="1"/>
          </p:cNvSpPr>
          <p:nvPr>
            <p:ph type="title"/>
          </p:nvPr>
        </p:nvSpPr>
        <p:spPr/>
        <p:txBody>
          <a:bodyPr/>
          <a:lstStyle/>
          <a:p>
            <a:r>
              <a:rPr lang="en-US" dirty="0">
                <a:solidFill>
                  <a:schemeClr val="accent2">
                    <a:lumMod val="75000"/>
                  </a:schemeClr>
                </a:solidFill>
              </a:rPr>
              <a:t>Result</a:t>
            </a:r>
            <a:endParaRPr lang="en-IN" dirty="0">
              <a:solidFill>
                <a:schemeClr val="accent2">
                  <a:lumMod val="75000"/>
                </a:schemeClr>
              </a:solidFill>
            </a:endParaRPr>
          </a:p>
        </p:txBody>
      </p:sp>
      <p:pic>
        <p:nvPicPr>
          <p:cNvPr id="4" name="Content Placeholder 3">
            <a:extLst>
              <a:ext uri="{FF2B5EF4-FFF2-40B4-BE49-F238E27FC236}">
                <a16:creationId xmlns:a16="http://schemas.microsoft.com/office/drawing/2014/main" id="{D95638DB-0484-340C-0C76-60FA26FE1394}"/>
              </a:ext>
            </a:extLst>
          </p:cNvPr>
          <p:cNvPicPr>
            <a:picLocks noGrp="1" noChangeAspect="1"/>
          </p:cNvPicPr>
          <p:nvPr>
            <p:ph idx="1"/>
          </p:nvPr>
        </p:nvPicPr>
        <p:blipFill>
          <a:blip r:embed="rId2"/>
          <a:stretch>
            <a:fillRect/>
          </a:stretch>
        </p:blipFill>
        <p:spPr>
          <a:xfrm>
            <a:off x="1716782" y="1301750"/>
            <a:ext cx="8758436" cy="4673600"/>
          </a:xfrm>
          <a:prstGeom prst="rect">
            <a:avLst/>
          </a:prstGeom>
        </p:spPr>
      </p:pic>
    </p:spTree>
    <p:extLst>
      <p:ext uri="{BB962C8B-B14F-4D97-AF65-F5344CB8AC3E}">
        <p14:creationId xmlns:p14="http://schemas.microsoft.com/office/powerpoint/2010/main" val="2378978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56FE46-B49D-1199-D3B7-A740ED1C40AC}"/>
              </a:ext>
            </a:extLst>
          </p:cNvPr>
          <p:cNvSpPr>
            <a:spLocks noGrp="1"/>
          </p:cNvSpPr>
          <p:nvPr>
            <p:ph type="title"/>
          </p:nvPr>
        </p:nvSpPr>
        <p:spPr/>
        <p:txBody>
          <a:bodyPr/>
          <a:lstStyle/>
          <a:p>
            <a:r>
              <a:rPr lang="en-US" dirty="0">
                <a:solidFill>
                  <a:schemeClr val="accent2">
                    <a:lumMod val="75000"/>
                  </a:schemeClr>
                </a:solidFill>
              </a:rPr>
              <a:t>Result</a:t>
            </a:r>
            <a:endParaRPr lang="en-IN" dirty="0">
              <a:solidFill>
                <a:schemeClr val="accent2">
                  <a:lumMod val="75000"/>
                </a:schemeClr>
              </a:solidFill>
            </a:endParaRPr>
          </a:p>
        </p:txBody>
      </p:sp>
      <p:pic>
        <p:nvPicPr>
          <p:cNvPr id="4" name="Content Placeholder 3">
            <a:extLst>
              <a:ext uri="{FF2B5EF4-FFF2-40B4-BE49-F238E27FC236}">
                <a16:creationId xmlns:a16="http://schemas.microsoft.com/office/drawing/2014/main" id="{E07508F9-47FF-05FE-0279-C6E853A16ED2}"/>
              </a:ext>
            </a:extLst>
          </p:cNvPr>
          <p:cNvPicPr>
            <a:picLocks noGrp="1" noChangeAspect="1"/>
          </p:cNvPicPr>
          <p:nvPr>
            <p:ph idx="1"/>
          </p:nvPr>
        </p:nvPicPr>
        <p:blipFill>
          <a:blip r:embed="rId2"/>
          <a:stretch>
            <a:fillRect/>
          </a:stretch>
        </p:blipFill>
        <p:spPr>
          <a:xfrm>
            <a:off x="1647271" y="1301750"/>
            <a:ext cx="8897458" cy="4673600"/>
          </a:xfrm>
          <a:prstGeom prst="rect">
            <a:avLst/>
          </a:prstGeom>
        </p:spPr>
      </p:pic>
    </p:spTree>
    <p:extLst>
      <p:ext uri="{BB962C8B-B14F-4D97-AF65-F5344CB8AC3E}">
        <p14:creationId xmlns:p14="http://schemas.microsoft.com/office/powerpoint/2010/main" val="12358493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D397-56A7-FC71-DCE5-22A2D8E233ED}"/>
              </a:ext>
            </a:extLst>
          </p:cNvPr>
          <p:cNvSpPr>
            <a:spLocks noGrp="1"/>
          </p:cNvSpPr>
          <p:nvPr>
            <p:ph type="title"/>
          </p:nvPr>
        </p:nvSpPr>
        <p:spPr/>
        <p:txBody>
          <a:bodyPr/>
          <a:lstStyle/>
          <a:p>
            <a:r>
              <a:rPr lang="en-US" dirty="0">
                <a:solidFill>
                  <a:schemeClr val="accent2">
                    <a:lumMod val="75000"/>
                  </a:schemeClr>
                </a:solidFill>
              </a:rPr>
              <a:t>result</a:t>
            </a:r>
            <a:endParaRPr lang="en-IN" dirty="0">
              <a:solidFill>
                <a:schemeClr val="accent2">
                  <a:lumMod val="75000"/>
                </a:schemeClr>
              </a:solidFill>
            </a:endParaRPr>
          </a:p>
        </p:txBody>
      </p:sp>
      <p:pic>
        <p:nvPicPr>
          <p:cNvPr id="4" name="Content Placeholder 3">
            <a:extLst>
              <a:ext uri="{FF2B5EF4-FFF2-40B4-BE49-F238E27FC236}">
                <a16:creationId xmlns:a16="http://schemas.microsoft.com/office/drawing/2014/main" id="{347BC476-41E1-8D7E-C403-DBA50D1EAFD0}"/>
              </a:ext>
            </a:extLst>
          </p:cNvPr>
          <p:cNvPicPr>
            <a:picLocks noGrp="1" noChangeAspect="1"/>
          </p:cNvPicPr>
          <p:nvPr>
            <p:ph idx="1"/>
          </p:nvPr>
        </p:nvPicPr>
        <p:blipFill>
          <a:blip r:embed="rId2"/>
          <a:stretch>
            <a:fillRect/>
          </a:stretch>
        </p:blipFill>
        <p:spPr>
          <a:xfrm>
            <a:off x="1647271" y="1301750"/>
            <a:ext cx="8897458" cy="4673600"/>
          </a:xfrm>
          <a:prstGeom prst="rect">
            <a:avLst/>
          </a:prstGeom>
        </p:spPr>
      </p:pic>
    </p:spTree>
    <p:extLst>
      <p:ext uri="{BB962C8B-B14F-4D97-AF65-F5344CB8AC3E}">
        <p14:creationId xmlns:p14="http://schemas.microsoft.com/office/powerpoint/2010/main" val="1347287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EBD5FB-A51C-7CAD-234D-74DB89E3A439}"/>
              </a:ext>
            </a:extLst>
          </p:cNvPr>
          <p:cNvSpPr>
            <a:spLocks noGrp="1"/>
          </p:cNvSpPr>
          <p:nvPr>
            <p:ph type="title"/>
          </p:nvPr>
        </p:nvSpPr>
        <p:spPr/>
        <p:txBody>
          <a:bodyPr/>
          <a:lstStyle/>
          <a:p>
            <a:r>
              <a:rPr lang="en-US" dirty="0">
                <a:solidFill>
                  <a:schemeClr val="accent2">
                    <a:lumMod val="75000"/>
                  </a:schemeClr>
                </a:solidFill>
              </a:rPr>
              <a:t>result</a:t>
            </a:r>
            <a:endParaRPr lang="en-IN" dirty="0">
              <a:solidFill>
                <a:schemeClr val="accent2">
                  <a:lumMod val="75000"/>
                </a:schemeClr>
              </a:solidFill>
            </a:endParaRPr>
          </a:p>
        </p:txBody>
      </p:sp>
      <p:pic>
        <p:nvPicPr>
          <p:cNvPr id="4" name="Content Placeholder 3">
            <a:extLst>
              <a:ext uri="{FF2B5EF4-FFF2-40B4-BE49-F238E27FC236}">
                <a16:creationId xmlns:a16="http://schemas.microsoft.com/office/drawing/2014/main" id="{4358CF10-8388-EDA8-ADEE-222F05AE2A0B}"/>
              </a:ext>
            </a:extLst>
          </p:cNvPr>
          <p:cNvPicPr>
            <a:picLocks noGrp="1" noChangeAspect="1"/>
          </p:cNvPicPr>
          <p:nvPr>
            <p:ph idx="1"/>
          </p:nvPr>
        </p:nvPicPr>
        <p:blipFill>
          <a:blip r:embed="rId2"/>
          <a:stretch>
            <a:fillRect/>
          </a:stretch>
        </p:blipFill>
        <p:spPr>
          <a:xfrm>
            <a:off x="1429695" y="1301750"/>
            <a:ext cx="9332609" cy="4673600"/>
          </a:xfrm>
          <a:prstGeom prst="rect">
            <a:avLst/>
          </a:prstGeom>
        </p:spPr>
      </p:pic>
    </p:spTree>
    <p:extLst>
      <p:ext uri="{BB962C8B-B14F-4D97-AF65-F5344CB8AC3E}">
        <p14:creationId xmlns:p14="http://schemas.microsoft.com/office/powerpoint/2010/main" val="2243287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r>
              <a:rPr lang="en-US" sz="2000" dirty="0"/>
              <a:t>The study highlights significant disparities in access to improved drinking water across regions and socio-economic groups in India.</a:t>
            </a:r>
          </a:p>
          <a:p>
            <a:r>
              <a:rPr lang="en-US" sz="2000" dirty="0"/>
              <a:t>Rural and underdeveloped areas still face challenges in obtaining safe and reliable water sources.</a:t>
            </a:r>
          </a:p>
          <a:p>
            <a:r>
              <a:rPr lang="en-US" sz="2000" dirty="0"/>
              <a:t>The analysis shows that access to clean cooking fuel and migration patterns are closely linked with water accessibility.</a:t>
            </a:r>
          </a:p>
          <a:p>
            <a:r>
              <a:rPr lang="en-US" sz="2000" dirty="0"/>
              <a:t>The project provides data-driven insights that can support policymakers in designing targeted and effective water supply programs.</a:t>
            </a:r>
          </a:p>
          <a:p>
            <a:r>
              <a:rPr lang="en-US" sz="2000" dirty="0"/>
              <a:t>Improving water accessibility will help India achieve Sustainable Development Goal (SDG) targets and promote better public health and living standards.</a:t>
            </a:r>
          </a:p>
          <a:p>
            <a:pPr marL="305435" indent="-305435"/>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6638FD1-D00E-E75B-705C-564F06D93D7B}"/>
              </a:ext>
            </a:extLst>
          </p:cNvPr>
          <p:cNvSpPr>
            <a:spLocks noGrp="1"/>
          </p:cNvSpPr>
          <p:nvPr>
            <p:ph idx="1"/>
          </p:nvPr>
        </p:nvSpPr>
        <p:spPr/>
        <p:txBody>
          <a:bodyPr/>
          <a:lstStyle/>
          <a:p>
            <a:pPr marL="0" indent="0">
              <a:buNone/>
            </a:pPr>
            <a:endParaRPr lang="en-US" sz="2000" b="1" dirty="0"/>
          </a:p>
          <a:p>
            <a:r>
              <a:rPr lang="en-US" sz="2000" dirty="0"/>
              <a:t>The study can be expanded by including data from future MIS or national surveys for more accurate and updated analysis.</a:t>
            </a:r>
          </a:p>
          <a:p>
            <a:r>
              <a:rPr lang="en-US" sz="2000" dirty="0"/>
              <a:t>Advanced machine learning and AI models can be applied to improve prediction accuracy.</a:t>
            </a:r>
          </a:p>
          <a:p>
            <a:r>
              <a:rPr lang="en-US" sz="2000" dirty="0"/>
              <a:t>Integration of geographical and climate data can help in better understanding water availability challenges.</a:t>
            </a:r>
          </a:p>
          <a:p>
            <a:r>
              <a:rPr lang="en-US" sz="2000" dirty="0"/>
              <a:t>The project can be developed into a real-time monitoring dashboard for policymakers and government agencies.</a:t>
            </a:r>
          </a:p>
          <a:p>
            <a:r>
              <a:rPr lang="en-US" sz="2000" dirty="0"/>
              <a:t>Further research can explore the impact of water accessibility on health, education, and economic development.</a:t>
            </a:r>
          </a:p>
          <a:p>
            <a:pPr marL="305435" indent="-305435"/>
            <a:endParaRPr lang="en-US" dirty="0"/>
          </a:p>
        </p:txBody>
      </p:sp>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Tree>
    <p:extLst>
      <p:ext uri="{BB962C8B-B14F-4D97-AF65-F5344CB8AC3E}">
        <p14:creationId xmlns:p14="http://schemas.microsoft.com/office/powerpoint/2010/main" val="614882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2" name="Content Placeholder 1">
            <a:extLst>
              <a:ext uri="{FF2B5EF4-FFF2-40B4-BE49-F238E27FC236}">
                <a16:creationId xmlns:a16="http://schemas.microsoft.com/office/drawing/2014/main" id="{357C38BC-22B3-37B2-E0C3-812020A76077}"/>
              </a:ext>
            </a:extLst>
          </p:cNvPr>
          <p:cNvSpPr>
            <a:spLocks noGrp="1"/>
          </p:cNvSpPr>
          <p:nvPr>
            <p:ph idx="1"/>
          </p:nvPr>
        </p:nvSpPr>
        <p:spPr/>
        <p:txBody>
          <a:bodyPr>
            <a:normAutofit/>
          </a:bodyPr>
          <a:lstStyle/>
          <a:p>
            <a:r>
              <a:rPr lang="en-US" sz="2400" dirty="0"/>
              <a:t>Ministry of Statistics and </a:t>
            </a:r>
            <a:r>
              <a:rPr lang="en-US" sz="2400" dirty="0" err="1"/>
              <a:t>Programme</a:t>
            </a:r>
            <a:r>
              <a:rPr lang="en-US" sz="2400" dirty="0"/>
              <a:t> Implementation (</a:t>
            </a:r>
            <a:r>
              <a:rPr lang="en-US" sz="2400" dirty="0" err="1"/>
              <a:t>MoSPI</a:t>
            </a:r>
            <a:r>
              <a:rPr lang="en-US" sz="2400" dirty="0"/>
              <a:t>), </a:t>
            </a:r>
            <a:r>
              <a:rPr lang="en-US" sz="2400" b="1" dirty="0"/>
              <a:t>78th Round Multiple Indicator Survey (MIS) Report</a:t>
            </a:r>
            <a:r>
              <a:rPr lang="en-US" sz="2400" dirty="0"/>
              <a:t>, Government of India.</a:t>
            </a:r>
          </a:p>
          <a:p>
            <a:r>
              <a:rPr lang="en-US" sz="2400" dirty="0"/>
              <a:t>United Nations, </a:t>
            </a:r>
            <a:r>
              <a:rPr lang="en-US" sz="2400" b="1" dirty="0"/>
              <a:t>Sustainable Development Goals (SDG) – Goal 6: Clean Water and Sanitation</a:t>
            </a:r>
            <a:r>
              <a:rPr lang="en-US" sz="2400" dirty="0"/>
              <a:t>.</a:t>
            </a:r>
          </a:p>
          <a:p>
            <a:r>
              <a:rPr lang="en-US" sz="2400" dirty="0"/>
              <a:t>World Health Organization (WHO) &amp; UNICEF, </a:t>
            </a:r>
            <a:r>
              <a:rPr lang="en-US" sz="2400" b="1" dirty="0"/>
              <a:t>Joint Monitoring </a:t>
            </a:r>
            <a:r>
              <a:rPr lang="en-US" sz="2400" b="1" dirty="0" err="1"/>
              <a:t>Programme</a:t>
            </a:r>
            <a:r>
              <a:rPr lang="en-US" sz="2400" b="1" dirty="0"/>
              <a:t> (JMP) for Water Supply, Sanitation and Hygiene</a:t>
            </a:r>
            <a:r>
              <a:rPr lang="en-US" sz="2400" dirty="0"/>
              <a:t>.</a:t>
            </a:r>
          </a:p>
          <a:p>
            <a:r>
              <a:rPr lang="en-US" sz="2400" dirty="0"/>
              <a:t>Government of India, </a:t>
            </a:r>
            <a:r>
              <a:rPr lang="en-US" sz="2400" b="1" dirty="0"/>
              <a:t>Jal Jeevan Mission Reports and Guidelines</a:t>
            </a:r>
            <a:r>
              <a:rPr lang="en-US" sz="2400" dirty="0"/>
              <a:t>.</a:t>
            </a:r>
          </a:p>
          <a:p>
            <a:r>
              <a:rPr lang="en-US" sz="2400" dirty="0"/>
              <a:t>Research articles and publications related to drinking water accessibility and socio-economic indicators in India.</a:t>
            </a:r>
          </a:p>
          <a:p>
            <a:pPr marL="305435" indent="-305435"/>
            <a:endParaRPr lang="en-IN" sz="2400" dirty="0"/>
          </a:p>
        </p:txBody>
      </p:sp>
    </p:spTree>
    <p:extLst>
      <p:ext uri="{BB962C8B-B14F-4D97-AF65-F5344CB8AC3E}">
        <p14:creationId xmlns:p14="http://schemas.microsoft.com/office/powerpoint/2010/main" val="728950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BBF1D1-C2C6-3744-562B-D3FA1509B3A9}"/>
              </a:ext>
            </a:extLst>
          </p:cNvPr>
          <p:cNvSpPr>
            <a:spLocks noGrp="1"/>
          </p:cNvSpPr>
          <p:nvPr>
            <p:ph type="title"/>
          </p:nvPr>
        </p:nvSpPr>
        <p:spPr/>
        <p:txBody>
          <a:bodyPr/>
          <a:lstStyle/>
          <a:p>
            <a:r>
              <a:rPr lang="en-US" dirty="0" err="1">
                <a:solidFill>
                  <a:schemeClr val="accent2">
                    <a:lumMod val="75000"/>
                  </a:schemeClr>
                </a:solidFill>
              </a:rPr>
              <a:t>Github</a:t>
            </a:r>
            <a:r>
              <a:rPr lang="en-US" dirty="0">
                <a:solidFill>
                  <a:schemeClr val="accent2">
                    <a:lumMod val="75000"/>
                  </a:schemeClr>
                </a:solidFill>
              </a:rPr>
              <a:t> link</a:t>
            </a:r>
            <a:endParaRPr lang="en-IN" dirty="0">
              <a:solidFill>
                <a:schemeClr val="accent2">
                  <a:lumMod val="75000"/>
                </a:schemeClr>
              </a:solidFill>
            </a:endParaRPr>
          </a:p>
        </p:txBody>
      </p:sp>
      <p:sp>
        <p:nvSpPr>
          <p:cNvPr id="3" name="Content Placeholder 2">
            <a:extLst>
              <a:ext uri="{FF2B5EF4-FFF2-40B4-BE49-F238E27FC236}">
                <a16:creationId xmlns:a16="http://schemas.microsoft.com/office/drawing/2014/main" id="{7C3B8BB5-7349-2BB9-7F05-E8A7353057FF}"/>
              </a:ext>
            </a:extLst>
          </p:cNvPr>
          <p:cNvSpPr>
            <a:spLocks noGrp="1"/>
          </p:cNvSpPr>
          <p:nvPr>
            <p:ph idx="1"/>
          </p:nvPr>
        </p:nvSpPr>
        <p:spPr/>
        <p:txBody>
          <a:bodyPr>
            <a:normAutofit/>
          </a:bodyPr>
          <a:lstStyle/>
          <a:p>
            <a:r>
              <a:rPr lang="en-IN" sz="2800" b="1" dirty="0"/>
              <a:t>https://github.com/Avantika-200411/edunet-ibm</a:t>
            </a:r>
          </a:p>
        </p:txBody>
      </p:sp>
    </p:spTree>
    <p:extLst>
      <p:ext uri="{BB962C8B-B14F-4D97-AF65-F5344CB8AC3E}">
        <p14:creationId xmlns:p14="http://schemas.microsoft.com/office/powerpoint/2010/main" val="41443599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A554A-E394-8538-FC79-7ED1E5F078B9}"/>
              </a:ext>
            </a:extLst>
          </p:cNvPr>
          <p:cNvSpPr>
            <a:spLocks noGrp="1"/>
          </p:cNvSpPr>
          <p:nvPr>
            <p:ph type="title"/>
          </p:nvPr>
        </p:nvSpPr>
        <p:spPr/>
        <p:txBody>
          <a:bodyPr/>
          <a:lstStyle/>
          <a:p>
            <a:r>
              <a:rPr lang="en-US" dirty="0">
                <a:solidFill>
                  <a:schemeClr val="accent2">
                    <a:lumMod val="75000"/>
                  </a:schemeClr>
                </a:solidFill>
              </a:rPr>
              <a:t>certificates</a:t>
            </a:r>
            <a:endParaRPr lang="en-IN" dirty="0">
              <a:solidFill>
                <a:schemeClr val="accent2">
                  <a:lumMod val="75000"/>
                </a:schemeClr>
              </a:solidFill>
            </a:endParaRPr>
          </a:p>
        </p:txBody>
      </p:sp>
      <p:pic>
        <p:nvPicPr>
          <p:cNvPr id="5" name="Content Placeholder 4">
            <a:extLst>
              <a:ext uri="{FF2B5EF4-FFF2-40B4-BE49-F238E27FC236}">
                <a16:creationId xmlns:a16="http://schemas.microsoft.com/office/drawing/2014/main" id="{E2287B28-BB17-24AD-2497-A35D253E3319}"/>
              </a:ext>
            </a:extLst>
          </p:cNvPr>
          <p:cNvPicPr>
            <a:picLocks noGrp="1" noChangeAspect="1"/>
          </p:cNvPicPr>
          <p:nvPr>
            <p:ph idx="1"/>
          </p:nvPr>
        </p:nvPicPr>
        <p:blipFill>
          <a:blip r:embed="rId2"/>
          <a:stretch>
            <a:fillRect/>
          </a:stretch>
        </p:blipFill>
        <p:spPr>
          <a:xfrm>
            <a:off x="468307" y="1372870"/>
            <a:ext cx="5018094" cy="4032250"/>
          </a:xfrm>
          <a:prstGeom prst="rect">
            <a:avLst/>
          </a:prstGeom>
        </p:spPr>
      </p:pic>
      <p:pic>
        <p:nvPicPr>
          <p:cNvPr id="7" name="Picture 6">
            <a:extLst>
              <a:ext uri="{FF2B5EF4-FFF2-40B4-BE49-F238E27FC236}">
                <a16:creationId xmlns:a16="http://schemas.microsoft.com/office/drawing/2014/main" id="{BB38DB8C-C99E-6696-78AC-EE84A26D704B}"/>
              </a:ext>
            </a:extLst>
          </p:cNvPr>
          <p:cNvPicPr>
            <a:picLocks noChangeAspect="1"/>
          </p:cNvPicPr>
          <p:nvPr/>
        </p:nvPicPr>
        <p:blipFill>
          <a:blip r:embed="rId3"/>
          <a:stretch>
            <a:fillRect/>
          </a:stretch>
        </p:blipFill>
        <p:spPr>
          <a:xfrm>
            <a:off x="5637832" y="1372870"/>
            <a:ext cx="5766590" cy="4032250"/>
          </a:xfrm>
          <a:prstGeom prst="rect">
            <a:avLst/>
          </a:prstGeom>
        </p:spPr>
      </p:pic>
    </p:spTree>
    <p:extLst>
      <p:ext uri="{BB962C8B-B14F-4D97-AF65-F5344CB8AC3E}">
        <p14:creationId xmlns:p14="http://schemas.microsoft.com/office/powerpoint/2010/main" val="35295252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75DB8-281F-5EC1-3219-86233580C279}"/>
              </a:ext>
            </a:extLst>
          </p:cNvPr>
          <p:cNvSpPr>
            <a:spLocks noGrp="1"/>
          </p:cNvSpPr>
          <p:nvPr>
            <p:ph type="title"/>
          </p:nvPr>
        </p:nvSpPr>
        <p:spPr/>
        <p:txBody>
          <a:bodyPr/>
          <a:lstStyle/>
          <a:p>
            <a:r>
              <a:rPr lang="en-US" dirty="0"/>
              <a:t>certificates</a:t>
            </a:r>
            <a:endParaRPr lang="en-IN" dirty="0"/>
          </a:p>
        </p:txBody>
      </p:sp>
      <p:pic>
        <p:nvPicPr>
          <p:cNvPr id="5" name="Content Placeholder 4">
            <a:extLst>
              <a:ext uri="{FF2B5EF4-FFF2-40B4-BE49-F238E27FC236}">
                <a16:creationId xmlns:a16="http://schemas.microsoft.com/office/drawing/2014/main" id="{A84E6160-2771-21D0-6C27-41CBE8861AA6}"/>
              </a:ext>
            </a:extLst>
          </p:cNvPr>
          <p:cNvPicPr>
            <a:picLocks noGrp="1" noChangeAspect="1"/>
          </p:cNvPicPr>
          <p:nvPr>
            <p:ph idx="1"/>
          </p:nvPr>
        </p:nvPicPr>
        <p:blipFill>
          <a:blip r:embed="rId2"/>
          <a:stretch>
            <a:fillRect/>
          </a:stretch>
        </p:blipFill>
        <p:spPr>
          <a:xfrm>
            <a:off x="581192" y="1774498"/>
            <a:ext cx="5325427" cy="3309004"/>
          </a:xfrm>
          <a:prstGeom prst="rect">
            <a:avLst/>
          </a:prstGeom>
        </p:spPr>
      </p:pic>
      <p:pic>
        <p:nvPicPr>
          <p:cNvPr id="7" name="Picture 6">
            <a:extLst>
              <a:ext uri="{FF2B5EF4-FFF2-40B4-BE49-F238E27FC236}">
                <a16:creationId xmlns:a16="http://schemas.microsoft.com/office/drawing/2014/main" id="{C6EC7451-6236-D48E-E21F-ABB77ED395FA}"/>
              </a:ext>
            </a:extLst>
          </p:cNvPr>
          <p:cNvPicPr>
            <a:picLocks noChangeAspect="1"/>
          </p:cNvPicPr>
          <p:nvPr/>
        </p:nvPicPr>
        <p:blipFill>
          <a:blip r:embed="rId3"/>
          <a:stretch>
            <a:fillRect/>
          </a:stretch>
        </p:blipFill>
        <p:spPr>
          <a:xfrm>
            <a:off x="6285382" y="1774498"/>
            <a:ext cx="5674351" cy="3495400"/>
          </a:xfrm>
          <a:prstGeom prst="rect">
            <a:avLst/>
          </a:prstGeom>
        </p:spPr>
      </p:pic>
    </p:spTree>
    <p:extLst>
      <p:ext uri="{BB962C8B-B14F-4D97-AF65-F5344CB8AC3E}">
        <p14:creationId xmlns:p14="http://schemas.microsoft.com/office/powerpoint/2010/main" val="16447119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lstStyle/>
          <a:p>
            <a:pPr algn="ctr"/>
            <a:r>
              <a:rPr lang="en-US"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27BD4C1-B6B1-4715-ABF9-E660A51A4EA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Droplet</Template>
  <TotalTime>0</TotalTime>
  <Words>1129</Words>
  <Application>Microsoft Office PowerPoint</Application>
  <PresentationFormat>Widescreen</PresentationFormat>
  <Paragraphs>92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Calibri Light</vt:lpstr>
      <vt:lpstr>Franklin Gothic Book</vt:lpstr>
      <vt:lpstr>Franklin Gothic Demi</vt:lpstr>
      <vt:lpstr>Wingdings 2</vt:lpstr>
      <vt:lpstr>DividendVTI</vt:lpstr>
      <vt:lpstr>Improved sources of drinking Water</vt:lpstr>
      <vt:lpstr>OUTLINE</vt:lpstr>
      <vt:lpstr>Problem Statement</vt:lpstr>
      <vt:lpstr>Proposed Solution</vt:lpstr>
      <vt:lpstr>System  Approach</vt:lpstr>
      <vt:lpstr>Technologies used</vt:lpstr>
      <vt:lpstr>Algorithm &amp; Deployment</vt:lpstr>
      <vt:lpstr>Result</vt:lpstr>
      <vt:lpstr>Result</vt:lpstr>
      <vt:lpstr>Result</vt:lpstr>
      <vt:lpstr>result</vt:lpstr>
      <vt:lpstr>result</vt:lpstr>
      <vt:lpstr>Conclusion</vt:lpstr>
      <vt:lpstr>PowerPoint Presentation</vt:lpstr>
      <vt:lpstr>References</vt:lpstr>
      <vt:lpstr>Github link</vt:lpstr>
      <vt:lpstr>certificates</vt:lpstr>
      <vt:lpstr>certificates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HP PC</cp:lastModifiedBy>
  <cp:revision>31</cp:revision>
  <dcterms:created xsi:type="dcterms:W3CDTF">2021-05-26T16:50:10Z</dcterms:created>
  <dcterms:modified xsi:type="dcterms:W3CDTF">2026-02-07T07:32:12Z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